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ibre Baskerville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Open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-324" y="6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4D732-11A0-4995-9AB2-73314C4FB89A}" type="datetimeFigureOut">
              <a:rPr lang="en-US" smtClean="0"/>
              <a:t>20/03/2026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34056-B16C-4683-937D-9788F3133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87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1492"/>
            <a:ext cx="7556421" cy="354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Fake News Detection System</a:t>
            </a:r>
            <a:endParaRPr lang="en-US" sz="4450" dirty="0"/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using Machine Learning and Natural Language Processing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34554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by: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Krunal Goswami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smtClean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 err="1" smtClean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Digvijay</a:t>
            </a:r>
            <a:r>
              <a:rPr lang="en-US" sz="1750" dirty="0" smtClean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Dinkar Bhosale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334125"/>
            <a:ext cx="2010489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6402110"/>
            <a:ext cx="17383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17627" y="6326505"/>
            <a:ext cx="3238143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61335" y="6402110"/>
            <a:ext cx="29507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9117" y="6326505"/>
            <a:ext cx="1964055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12825" y="6402110"/>
            <a:ext cx="16766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28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3177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 news is false or misleading information presented as real news. It spreads quickly through social media, websites, and messaging platforms, often before people can verify it.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175635"/>
            <a:ext cx="2367558" cy="4271129"/>
          </a:xfrm>
          <a:prstGeom prst="roundRect">
            <a:avLst>
              <a:gd name="adj" fmla="val 618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3175635"/>
            <a:ext cx="121920" cy="42711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924" y="3432929"/>
            <a:ext cx="17615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628924" y="4277678"/>
            <a:ext cx="17615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influence public opinion, create panic, and damage trust in reliable media.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8874562" y="3175635"/>
            <a:ext cx="2367558" cy="4271129"/>
          </a:xfrm>
          <a:prstGeom prst="roundRect">
            <a:avLst>
              <a:gd name="adj" fmla="val 618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4082" y="3175635"/>
            <a:ext cx="121920" cy="42711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3296" y="3432929"/>
            <a:ext cx="17615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Detection need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223296" y="4277678"/>
            <a:ext cx="17615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automated system helps identify suspicious content faster than manual checking.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11468933" y="3175635"/>
            <a:ext cx="2367558" cy="4271129"/>
          </a:xfrm>
          <a:prstGeom prst="roundRect">
            <a:avLst>
              <a:gd name="adj" fmla="val 6180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8453" y="3175635"/>
            <a:ext cx="121920" cy="42711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17668" y="3432929"/>
            <a:ext cx="17615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signal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1817668" y="3923348"/>
            <a:ext cx="1761530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looks for patterns in language, structure, and word usage to separate </a:t>
            </a:r>
            <a:r>
              <a:rPr lang="en-US" sz="1750" b="1" dirty="0">
                <a:solidFill>
                  <a:srgbClr val="E539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</a:t>
            </a:r>
            <a:r>
              <a:rPr lang="en-US" sz="1750" b="1" dirty="0">
                <a:solidFill>
                  <a:srgbClr val="43A0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news.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939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3833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 news is difficult to detect because it is often written in a convincing style, published rapidly, and shared widely before fact-checkers respond.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37240"/>
            <a:ext cx="3664744" cy="3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 spread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4301966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False claims travel faster than corrections.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48" y="3637240"/>
            <a:ext cx="3664863" cy="30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71748" y="381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Human limits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0171748" y="4301966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verification takes time and cannot scale to large volumes.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756910"/>
            <a:ext cx="7556421" cy="30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80190" y="59539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Automation need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6280190" y="64443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can analyze text continuously and support real-time filtering.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434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9234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main goal is to build a reliable classification system that predicts whether a news article is fake or real using text-based features and machine learning.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936206"/>
            <a:ext cx="7556421" cy="2749987"/>
          </a:xfrm>
          <a:prstGeom prst="roundRect">
            <a:avLst>
              <a:gd name="adj" fmla="val 1237"/>
            </a:avLst>
          </a:prstGeom>
          <a:solidFill>
            <a:srgbClr val="EAE8F3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3936206"/>
            <a:ext cx="2518767" cy="2749987"/>
          </a:xfrm>
          <a:prstGeom prst="roundRect">
            <a:avLst>
              <a:gd name="adj" fmla="val 1351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4163020"/>
            <a:ext cx="2065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653439"/>
            <a:ext cx="20651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news into </a:t>
            </a:r>
            <a:r>
              <a:rPr lang="en-US" sz="1750" b="1" dirty="0">
                <a:solidFill>
                  <a:srgbClr val="E539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</a:t>
            </a:r>
            <a:r>
              <a:rPr lang="en-US" sz="1750" b="1" dirty="0">
                <a:solidFill>
                  <a:srgbClr val="43A0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3312557" y="3936206"/>
            <a:ext cx="2518767" cy="2749987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0" name="Shape 7"/>
          <p:cNvSpPr/>
          <p:nvPr/>
        </p:nvSpPr>
        <p:spPr>
          <a:xfrm>
            <a:off x="3312557" y="3936206"/>
            <a:ext cx="30480" cy="2749987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Text 8"/>
          <p:cNvSpPr/>
          <p:nvPr/>
        </p:nvSpPr>
        <p:spPr>
          <a:xfrm>
            <a:off x="3539371" y="4163020"/>
            <a:ext cx="20651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accuracy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539371" y="5007769"/>
            <a:ext cx="20651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NLP and feature extraction to strengthen prediction quality.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831324" y="3936206"/>
            <a:ext cx="2518886" cy="2749987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4" name="Shape 11"/>
          <p:cNvSpPr/>
          <p:nvPr/>
        </p:nvSpPr>
        <p:spPr>
          <a:xfrm>
            <a:off x="5831324" y="3936206"/>
            <a:ext cx="30480" cy="2749987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5" name="Text 12"/>
          <p:cNvSpPr/>
          <p:nvPr/>
        </p:nvSpPr>
        <p:spPr>
          <a:xfrm>
            <a:off x="6058138" y="4163020"/>
            <a:ext cx="2065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058138" y="4653439"/>
            <a:ext cx="206525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manual effort and support quick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253" y="753428"/>
            <a:ext cx="4958953" cy="61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Technologies Used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4253" y="1720096"/>
            <a:ext cx="13241893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tools form the full pipeline from data handling to model deployment. Together, they make the system practical, lightweight, and easy to extend.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4253" y="3222784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94253" y="3636764"/>
            <a:ext cx="651248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 language for preprocessing, training, and integration.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423547" y="3222784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Flask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23547" y="3636764"/>
            <a:ext cx="6512600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framework used to build the application interface.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94253" y="4993719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Pandas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694253" y="5407700"/>
            <a:ext cx="651248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for loading, organizing, and cleaning the dataset.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7423547" y="4993719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Scikit-learn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23547" y="5407700"/>
            <a:ext cx="6512600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the machine learning model and evaluation tools.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94253" y="676465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NLP + TF-IDF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694253" y="7178635"/>
            <a:ext cx="6512481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Converts text into useful numerical features.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7423547" y="676465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Logistic Regression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7423547" y="7178635"/>
            <a:ext cx="6512600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Performs the final binary classification.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6477" y="517088"/>
            <a:ext cx="4484013" cy="541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36477" y="1323261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follows a simple and clear flow from user input to prediction output. Each stage transforms the text before the model makes the final decision.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68" y="1960959"/>
            <a:ext cx="11858744" cy="51137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83768" y="6104938"/>
            <a:ext cx="2690334" cy="33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TF-IDF &amp; Model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2183768" y="4921192"/>
            <a:ext cx="2690334" cy="33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NLP Processing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3768" y="3749401"/>
            <a:ext cx="2690334" cy="33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 App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83768" y="2565655"/>
            <a:ext cx="2690334" cy="336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User Input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36477" y="7223522"/>
            <a:ext cx="119573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web application acts as the bridge between the user and the model, while NLP and TF-IDF prepare the text for classification by Logistic Regression.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350" y="808553"/>
            <a:ext cx="530697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Preprocessing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29350" y="1769745"/>
            <a:ext cx="7658100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training, the raw text is cleaned so the model can focus on meaningful words instead of noise. This improves consistency and prediction quality.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441638" y="2969062"/>
            <a:ext cx="212169" cy="955119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6" name="Shape 3"/>
          <p:cNvSpPr/>
          <p:nvPr/>
        </p:nvSpPr>
        <p:spPr>
          <a:xfrm>
            <a:off x="6229350" y="2829758"/>
            <a:ext cx="636746" cy="636746"/>
          </a:xfrm>
          <a:prstGeom prst="roundRect">
            <a:avLst>
              <a:gd name="adj" fmla="val 71803"/>
            </a:avLst>
          </a:prstGeom>
          <a:solidFill>
            <a:srgbClr val="EAE8F3"/>
          </a:solidFill>
          <a:ln/>
        </p:spPr>
      </p:sp>
      <p:sp>
        <p:nvSpPr>
          <p:cNvPr id="8" name="Text 4"/>
          <p:cNvSpPr/>
          <p:nvPr/>
        </p:nvSpPr>
        <p:spPr>
          <a:xfrm>
            <a:off x="7064693" y="2862858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Text cleaning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064693" y="3313748"/>
            <a:ext cx="6822758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 punctuation, digits, URLs, and extra spaces.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760012" y="4441269"/>
            <a:ext cx="212169" cy="955119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11" name="Shape 7"/>
          <p:cNvSpPr/>
          <p:nvPr/>
        </p:nvSpPr>
        <p:spPr>
          <a:xfrm>
            <a:off x="6547723" y="4301966"/>
            <a:ext cx="636746" cy="636746"/>
          </a:xfrm>
          <a:prstGeom prst="roundRect">
            <a:avLst>
              <a:gd name="adj" fmla="val 71803"/>
            </a:avLst>
          </a:prstGeom>
          <a:solidFill>
            <a:srgbClr val="EAE8F3"/>
          </a:solidFill>
          <a:ln/>
        </p:spPr>
      </p:sp>
      <p:sp>
        <p:nvSpPr>
          <p:cNvPr id="13" name="Text 8"/>
          <p:cNvSpPr/>
          <p:nvPr/>
        </p:nvSpPr>
        <p:spPr>
          <a:xfrm>
            <a:off x="7383066" y="4335066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Stopword removal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7383066" y="4785955"/>
            <a:ext cx="6504384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Discard common words such as “the,” “is,” and “and.”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7078385" y="5913477"/>
            <a:ext cx="212169" cy="955119"/>
          </a:xfrm>
          <a:prstGeom prst="roundRect">
            <a:avLst>
              <a:gd name="adj" fmla="val 15008"/>
            </a:avLst>
          </a:prstGeom>
          <a:solidFill>
            <a:srgbClr val="EAE8F3"/>
          </a:solidFill>
          <a:ln/>
        </p:spPr>
      </p:sp>
      <p:sp>
        <p:nvSpPr>
          <p:cNvPr id="16" name="Shape 11"/>
          <p:cNvSpPr/>
          <p:nvPr/>
        </p:nvSpPr>
        <p:spPr>
          <a:xfrm>
            <a:off x="6866096" y="5774174"/>
            <a:ext cx="636746" cy="636746"/>
          </a:xfrm>
          <a:prstGeom prst="roundRect">
            <a:avLst>
              <a:gd name="adj" fmla="val 71803"/>
            </a:avLst>
          </a:prstGeom>
          <a:solidFill>
            <a:srgbClr val="EAE8F3"/>
          </a:solidFill>
          <a:ln/>
        </p:spPr>
      </p:sp>
      <p:sp>
        <p:nvSpPr>
          <p:cNvPr id="18" name="Text 12"/>
          <p:cNvSpPr/>
          <p:nvPr/>
        </p:nvSpPr>
        <p:spPr>
          <a:xfrm>
            <a:off x="7701439" y="5807273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Tokenization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7701439" y="6258163"/>
            <a:ext cx="6186011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 the sentence into smaller word units for analysis.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229350" y="7092196"/>
            <a:ext cx="7658100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“This is a real news article!” → “real news article”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4354" y="633532"/>
            <a:ext cx="75880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Extraction: TF-IDF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4354" y="2349698"/>
            <a:ext cx="7588091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converts text into numbers based on how important a word is in one document compared with the whole dataset. Words that appear often in one article but rarely across all articles receive higher weight.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64354" y="3650933"/>
            <a:ext cx="3685103" cy="2039660"/>
          </a:xfrm>
          <a:prstGeom prst="roundRect">
            <a:avLst>
              <a:gd name="adj" fmla="val 163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7124" y="390370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TF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517124" y="4381619"/>
            <a:ext cx="3179564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Measures how often a word appears in a document.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7223" y="3650933"/>
            <a:ext cx="3685223" cy="2039660"/>
          </a:xfrm>
          <a:prstGeom prst="roundRect">
            <a:avLst>
              <a:gd name="adj" fmla="val 1635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19993" y="3903702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IDF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419993" y="4381619"/>
            <a:ext cx="3179683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Reduces the importance of very common words across documents.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64354" y="5908358"/>
            <a:ext cx="7588091" cy="1687592"/>
          </a:xfrm>
          <a:prstGeom prst="roundRect">
            <a:avLst>
              <a:gd name="adj" fmla="val 197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7124" y="6161127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it helps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517124" y="6639044"/>
            <a:ext cx="7082552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gives the model stronger signals from informative words and improves text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9815" y="1515189"/>
            <a:ext cx="7737396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 Used: Logistic Regression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39815" y="2329220"/>
            <a:ext cx="783717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is a simple and effective classification algorithm. It estimates the probability that a news article belongs to one of two classes: fake or real.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39815" y="3046452"/>
            <a:ext cx="7837170" cy="1120259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62675" y="3069312"/>
            <a:ext cx="746760" cy="1074539"/>
          </a:xfrm>
          <a:prstGeom prst="roundRect">
            <a:avLst>
              <a:gd name="adj" fmla="val 77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7063026" y="3256002"/>
            <a:ext cx="233386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Binary output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63026" y="3639860"/>
            <a:ext cx="670440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suited for two-class problems such as </a:t>
            </a:r>
            <a:r>
              <a:rPr lang="en-US" sz="1450" b="1" dirty="0">
                <a:solidFill>
                  <a:srgbClr val="E539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450" b="1" dirty="0">
                <a:solidFill>
                  <a:srgbClr val="43A0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</a:t>
            </a: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39815" y="4320302"/>
            <a:ext cx="7837170" cy="1120259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62675" y="4343162"/>
            <a:ext cx="746760" cy="1074539"/>
          </a:xfrm>
          <a:prstGeom prst="roundRect">
            <a:avLst>
              <a:gd name="adj" fmla="val 7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7063026" y="4529852"/>
            <a:ext cx="233386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Role in the system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063026" y="4913709"/>
            <a:ext cx="670440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learns from TF-IDF features and predicts the most likely label.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39815" y="5594152"/>
            <a:ext cx="7837170" cy="1120259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62675" y="5617012"/>
            <a:ext cx="746760" cy="1074539"/>
          </a:xfrm>
          <a:prstGeom prst="roundRect">
            <a:avLst>
              <a:gd name="adj" fmla="val 77"/>
            </a:avLst>
          </a:prstGeom>
          <a:solidFill>
            <a:srgbClr val="EAE8F3"/>
          </a:solidFill>
          <a:ln/>
        </p:spPr>
      </p:sp>
      <p:sp>
        <p:nvSpPr>
          <p:cNvPr id="15" name="Text 12"/>
          <p:cNvSpPr/>
          <p:nvPr/>
        </p:nvSpPr>
        <p:spPr>
          <a:xfrm>
            <a:off x="7063026" y="5803702"/>
            <a:ext cx="233386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chosen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063026" y="6187559"/>
            <a:ext cx="670440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fast, interpretable, and works well for text classification baselines.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340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9174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provides an automated way to detect fake news using NLP, TF-IDF, and Logistic Regression. It demonstrates that machine learning can support faster and more consistent news verification.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535341" y="3835598"/>
            <a:ext cx="30480" cy="2678906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6" name="Shape 3"/>
          <p:cNvSpPr/>
          <p:nvPr/>
        </p:nvSpPr>
        <p:spPr>
          <a:xfrm>
            <a:off x="6760012" y="407550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6365260" y="38781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669411" y="3913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69411" y="440388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text, extract features, and classify news accurately.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760012" y="5460325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2" name="Shape 9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6365260" y="52629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669411" y="5298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69411" y="5788700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the system using deep learning methods such as LSTM and BERT for stronger semantic understanding.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280190" y="676965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message: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lightweight ML-based detector is a strong first step toward trustworthy digital information.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735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Libre Baskerville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Kiran Goswami</cp:lastModifiedBy>
  <cp:revision>2</cp:revision>
  <dcterms:created xsi:type="dcterms:W3CDTF">2026-03-20T09:37:04Z</dcterms:created>
  <dcterms:modified xsi:type="dcterms:W3CDTF">2026-03-20T09:49:54Z</dcterms:modified>
</cp:coreProperties>
</file>